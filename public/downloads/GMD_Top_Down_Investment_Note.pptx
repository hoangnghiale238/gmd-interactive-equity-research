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c0b97c91a1468e" /><Relationship Type="http://schemas.openxmlformats.org/officeDocument/2006/relationships/extended-properties" Target="/docProps/app.xml" Id="Rb21ca9375aa14986" /><Relationship Type="http://schemas.openxmlformats.org/officeDocument/2006/relationships/officeDocument" Target="/ppt/presentation.xml" Id="R67125e00e63b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dd8a47f4134c3e"/>
  </p:sldMasterIdLst>
  <p:notesMasterIdLst>
    <p:notesMasterId xmlns:r="http://schemas.openxmlformats.org/officeDocument/2006/relationships" r:id="R0bafdad1f9bf4f75"/>
  </p:notesMasterIdLst>
  <p:sldIdLst>
    <p:sldId xmlns:r="http://schemas.openxmlformats.org/officeDocument/2006/relationships" id="256" r:id="R5176ebe5678045e1"/>
    <p:sldId xmlns:r="http://schemas.openxmlformats.org/officeDocument/2006/relationships" id="257" r:id="Rdd194378f93a4775"/>
    <p:sldId xmlns:r="http://schemas.openxmlformats.org/officeDocument/2006/relationships" id="258" r:id="Rc09c61a77a7a4ca0"/>
    <p:sldId xmlns:r="http://schemas.openxmlformats.org/officeDocument/2006/relationships" id="259" r:id="R92cce538f79e426a"/>
    <p:sldId xmlns:r="http://schemas.openxmlformats.org/officeDocument/2006/relationships" id="260" r:id="R9d35175408294cbd"/>
    <p:sldId xmlns:r="http://schemas.openxmlformats.org/officeDocument/2006/relationships" id="261" r:id="R8a7ee51158274016"/>
    <p:sldId xmlns:r="http://schemas.openxmlformats.org/officeDocument/2006/relationships" id="262" r:id="Recdb59c4bb5947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3d3b7a215f4aed" /><Relationship Type="http://schemas.openxmlformats.org/officeDocument/2006/relationships/slideMaster" Target="/ppt/slideMasters/slideMaster1.xml" Id="Racdd8a47f4134c3e" /><Relationship Type="http://schemas.openxmlformats.org/officeDocument/2006/relationships/notesMaster" Target="/ppt/notesMasters/notesMaster1.xml" Id="R0bafdad1f9bf4f75" /><Relationship Type="http://schemas.openxmlformats.org/officeDocument/2006/relationships/presProps" Target="/ppt/presProps.xml" Id="R61f37333f9494b9e" /><Relationship Type="http://schemas.openxmlformats.org/officeDocument/2006/relationships/tableStyles" Target="/ppt/tableStyles.xml" Id="Rf07bd0a92dfe4f64" /><Relationship Type="http://schemas.openxmlformats.org/officeDocument/2006/relationships/slide" Target="/ppt/slides/slide1.xml" Id="R5176ebe5678045e1" /><Relationship Type="http://schemas.openxmlformats.org/officeDocument/2006/relationships/slide" Target="/ppt/slides/slide2.xml" Id="Rdd194378f93a4775" /><Relationship Type="http://schemas.openxmlformats.org/officeDocument/2006/relationships/slide" Target="/ppt/slides/slide3.xml" Id="Rc09c61a77a7a4ca0" /><Relationship Type="http://schemas.openxmlformats.org/officeDocument/2006/relationships/slide" Target="/ppt/slides/slide4.xml" Id="R92cce538f79e426a" /><Relationship Type="http://schemas.openxmlformats.org/officeDocument/2006/relationships/slide" Target="/ppt/slides/slide5.xml" Id="R9d35175408294cbd" /><Relationship Type="http://schemas.openxmlformats.org/officeDocument/2006/relationships/slide" Target="/ppt/slides/slide6.xml" Id="R8a7ee51158274016" /><Relationship Type="http://schemas.openxmlformats.org/officeDocument/2006/relationships/slide" Target="/ppt/slides/slide7.xml" Id="Recdb59c4bb5947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5e6648f62842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d61404716a4dea" /><Relationship Type="http://schemas.openxmlformats.org/officeDocument/2006/relationships/notesMaster" Target="/ppt/notesMasters/notesMaster1.xml" Id="R73fe3a2d8312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7c1f6ad7174889" /><Relationship Type="http://schemas.openxmlformats.org/officeDocument/2006/relationships/notesMaster" Target="/ppt/notesMasters/notesMaster1.xml" Id="Rc6843f0f718643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a334d8bd814243" /><Relationship Type="http://schemas.openxmlformats.org/officeDocument/2006/relationships/notesMaster" Target="/ppt/notesMasters/notesMaster1.xml" Id="Rf831eee9124246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e18c056bff4059" /><Relationship Type="http://schemas.openxmlformats.org/officeDocument/2006/relationships/notesMaster" Target="/ppt/notesMasters/notesMaster1.xml" Id="Re75ade3ccfc145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a5b5998d5f4c29" /><Relationship Type="http://schemas.openxmlformats.org/officeDocument/2006/relationships/notesMaster" Target="/ppt/notesMasters/notesMaster1.xml" Id="Ra2e50539441948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e352dc27ba45c0" /><Relationship Type="http://schemas.openxmlformats.org/officeDocument/2006/relationships/notesMaster" Target="/ppt/notesMasters/notesMaster1.xml" Id="R8d88abc933a546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772a7928554cf7" /><Relationship Type="http://schemas.openxmlformats.org/officeDocument/2006/relationships/notesMaster" Target="/ppt/notesMasters/notesMaster1.xml" Id="R94c2d84fd1ea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https://vnstocks.com/docs/vnstock/du-lieu-thi-truong-market-data</a:t>
            </a:r>
          </a:p>
          <a:p xmlns:a="http://schemas.openxmlformats.org/drawingml/2006/main">
            <a:r>
              <a:t>- Model outputs: P4 Valuation and P4 Investment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https://www.nso.gov.vn/wp-content/uploads/2026/07/VN.-T6.2026-final.pdf</a:t>
            </a:r>
          </a:p>
          <a:p xmlns:a="http://schemas.openxmlformats.org/drawingml/2006/main">
            <a:r>
              <a:t>- https://www.nso.gov.vn/en/data-and-statistics/2026/01/socio-economic-situation-in-the-fourth-quarter-and-2025/</a:t>
            </a:r>
          </a:p>
          <a:p xmlns:a="http://schemas.openxmlformats.org/drawingml/2006/main">
            <a:r>
              <a:t>- https://vimawa.gov.vn/vi/node/15301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https://www.gemadept.com.vn/wp-content/uploads/2026/04/GMD-AR-2025_EN.pdf</a:t>
            </a:r>
          </a:p>
          <a:p xmlns:a="http://schemas.openxmlformats.org/drawingml/2006/main">
            <a:r>
              <a:t>- https://haiphongport.com.vn/FileUpload/Documents/annual_report_2025pdf.pdf</a:t>
            </a:r>
          </a:p>
          <a:p xmlns:a="http://schemas.openxmlformats.org/drawingml/2006/main">
            <a:r>
              <a:t>- https://viconship.com/wp-content/uploads/2026/04/CBTT-Bao-cao-thuong-nien-nam-2025.pdf</a:t>
            </a:r>
          </a:p>
          <a:p xmlns:a="http://schemas.openxmlformats.org/drawingml/2006/main">
            <a:r>
              <a:t>- https://dinhvuport.com.vn/aj/Download.ashx?Key=873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https://vnstocks.com/docs/vnstock/phan-tich-co-ban-fundamental</a:t>
            </a:r>
          </a:p>
          <a:p xmlns:a="http://schemas.openxmlformats.org/drawingml/2006/main">
            <a:r>
              <a:t>- https://www.gemadept.com.vn/wp-content/uploads/2026/04/GMD-AR-2025_EN.pdf</a:t>
            </a:r>
          </a:p>
          <a:p xmlns:a="http://schemas.openxmlformats.org/drawingml/2006/main">
            <a:r>
              <a:t>- GMD Annual Reports 2021-2025 are registered in the model Source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https://www.gemadept.com.vn/wp-content/uploads/2026/04/GMD-AR-2025_EN.pdf</a:t>
            </a:r>
          </a:p>
          <a:p xmlns:a="http://schemas.openxmlformats.org/drawingml/2006/main">
            <a:r>
              <a:t>- https://www.gemadept.com.vn/wp-content/uploads/2026/05/IR-NEWSLETTER-Q12026.pdf</a:t>
            </a:r>
          </a:p>
          <a:p xmlns:a="http://schemas.openxmlformats.org/drawingml/2006/main">
            <a:r>
              <a:t>- https://www.gemadept.com.vn/wp-content/uploads/2026/04/AGM-2026-7.3.-Submission-03-Business-Plan-2026.pdf</a:t>
            </a:r>
          </a:p>
          <a:p xmlns:a="http://schemas.openxmlformats.org/drawingml/2006/main">
            <a:r>
              <a:t>- Analyst assumptions and model outputs: P4 Assumptions and P4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https://vnstocks.com/docs/vnstock/du-lieu-thi-truong-market-data</a:t>
            </a:r>
          </a:p>
          <a:p xmlns:a="http://schemas.openxmlformats.org/drawingml/2006/main">
            <a:r>
              <a:t>- https://asianbondsonline.adb.org/vietnam/</a:t>
            </a:r>
          </a:p>
          <a:p xmlns:a="http://schemas.openxmlformats.org/drawingml/2006/main">
            <a:r>
              <a:t>- Model outputs: P4 DCF and P4 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https://www.gemadept.com.vn/wp-content/uploads/2026/04/GMD-AR-2025_EN.pdf</a:t>
            </a:r>
          </a:p>
          <a:p xmlns:a="http://schemas.openxmlformats.org/drawingml/2006/main">
            <a:r>
              <a:t>- https://www.gemadept.com.vn/wp-content/uploads/2026/05/IR-NEWSLETTER-Q12026.pdf</a:t>
            </a:r>
          </a:p>
          <a:p xmlns:a="http://schemas.openxmlformats.org/drawingml/2006/main">
            <a:r>
              <a:t>- https://www.gemadept.com.vn/wp-content/uploads/2026/04/AGM-2026-7.3.-Submission-03-Business-Plan-2026.pdf</a:t>
            </a:r>
          </a:p>
          <a:p xmlns:a="http://schemas.openxmlformats.org/drawingml/2006/main">
            <a:r>
              <a:t>- Model downside outputs: P4 Investment View and P4 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5bcbf018e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1e172e1f0847eb" /><Relationship Type="http://schemas.openxmlformats.org/officeDocument/2006/relationships/slideLayout" Target="/ppt/slideLayouts/slideLayout1.xml" Id="Rf37c173b4c6645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7c173b4c6645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ce3683b7f4e12" /><Relationship Type="http://schemas.openxmlformats.org/officeDocument/2006/relationships/notesSlide" Target="/ppt/notesSlides/notesSlide1.xml" Id="R635e6c4280054d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3128828934454" /><Relationship Type="http://schemas.openxmlformats.org/officeDocument/2006/relationships/chart" Target="/ppt/slides/charts/chart1.xml" Id="R0c2677385264495f" /><Relationship Type="http://schemas.openxmlformats.org/officeDocument/2006/relationships/notesSlide" Target="/ppt/notesSlides/notesSlide2.xml" Id="Rf9fb7828bd73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bc9999ed846e1" /><Relationship Type="http://schemas.openxmlformats.org/officeDocument/2006/relationships/chart" Target="/ppt/slides/charts/chart2.xml" Id="Rba0072c8699940b9" /><Relationship Type="http://schemas.openxmlformats.org/officeDocument/2006/relationships/notesSlide" Target="/ppt/notesSlides/notesSlide3.xml" Id="R32e6ad3dc4af4e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ab3bf92c6408f" /><Relationship Type="http://schemas.openxmlformats.org/officeDocument/2006/relationships/chart" Target="/ppt/slides/charts/chart3.xml" Id="Rbee2a987c09c4e16" /><Relationship Type="http://schemas.openxmlformats.org/officeDocument/2006/relationships/notesSlide" Target="/ppt/notesSlides/notesSlide4.xml" Id="R928ae08563dd42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5ce4c11524607" /><Relationship Type="http://schemas.openxmlformats.org/officeDocument/2006/relationships/chart" Target="/ppt/slides/charts/chart4.xml" Id="R332d6f09b21941e2" /><Relationship Type="http://schemas.openxmlformats.org/officeDocument/2006/relationships/notesSlide" Target="/ppt/notesSlides/notesSlide5.xml" Id="Rbd398520b469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34cdd801840df" /><Relationship Type="http://schemas.openxmlformats.org/officeDocument/2006/relationships/chart" Target="/ppt/slides/charts/chart5.xml" Id="R5d8f591ee98043a3" /><Relationship Type="http://schemas.openxmlformats.org/officeDocument/2006/relationships/notesSlide" Target="/ppt/notesSlides/notesSlide6.xml" Id="R8752b6ce8a19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652d816174fb1" /><Relationship Type="http://schemas.openxmlformats.org/officeDocument/2006/relationships/notesSlide" Target="/ppt/notesSlides/notesSlide7.xml" Id="Rcbe8df0f05b146d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Total trade</c:v>
          </c:tx>
          <c:spPr>
            <a:solidFill xmlns:a="http://schemas.openxmlformats.org/drawingml/2006/main">
              <a:srgbClr val="5B9BD5"/>
            </a:solidFill>
          </c:spPr>
          <c:cat>
            <c:numLit>
              <c:formatCode>General</c:formatCode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</c:formatCode>
              <c:ptCount val="5"/>
              <c:pt idx="0">
                <c:v>668.54</c:v>
              </c:pt>
              <c:pt idx="1">
                <c:v>732.5</c:v>
              </c:pt>
              <c:pt idx="2">
                <c:v>683</c:v>
              </c:pt>
              <c:pt idx="3">
                <c:v>786.29</c:v>
              </c:pt>
              <c:pt idx="4">
                <c:v>930.05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75569"/>
                    </a:solidFill>
                  </a:rPr>
                  <a:t>USD bn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75569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Weighted score</c:v>
          </c:tx>
          <c:spPr>
            <a:solidFill xmlns:a="http://schemas.openxmlformats.org/drawingml/2006/main">
              <a:srgbClr val="1F4E7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E7D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9BD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4A3B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BD5E1"/>
              </a:solidFill>
            </c:spPr>
          </c:dPt>
          <c:cat>
            <c:strLit>
              <c:ptCount val="4"/>
              <c:pt idx="0">
                <c:v>GMD</c:v>
              </c:pt>
              <c:pt idx="1">
                <c:v>PHP</c:v>
              </c:pt>
              <c:pt idx="2">
                <c:v>VSC</c:v>
              </c:pt>
              <c:pt idx="3">
                <c:v>DVP</c:v>
              </c:pt>
            </c:strLit>
          </c:cat>
          <c:val>
            <c:numLit>
              <c:formatCode>0.00</c:formatCode>
              <c:ptCount val="4"/>
              <c:pt idx="0">
                <c:v>4.675</c:v>
              </c:pt>
              <c:pt idx="1">
                <c:v>4.1499999999999995</c:v>
              </c:pt>
              <c:pt idx="2">
                <c:v>3.4</c:v>
              </c:pt>
              <c:pt idx="3">
                <c:v>2.95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1F4E78"/>
            </a:solidFill>
          </c:spPr>
          <c:cat>
            <c:strLit>
              <c:ptCount val="5"/>
              <c:pt idx="0">
                <c:v>2021A</c:v>
              </c:pt>
              <c:pt idx="1">
                <c:v>2022A</c:v>
              </c:pt>
              <c:pt idx="2">
                <c:v>2023A</c:v>
              </c:pt>
              <c:pt idx="3">
                <c:v>2024A</c:v>
              </c:pt>
              <c:pt idx="4">
                <c:v>2025A</c:v>
              </c:pt>
            </c:strLit>
          </c:cat>
          <c:val>
            <c:numLit>
              <c:formatCode>#,##0</c:formatCode>
              <c:ptCount val="5"/>
              <c:pt idx="0">
                <c:v>3206.290165333</c:v>
              </c:pt>
              <c:pt idx="1">
                <c:v>3898.24360857</c:v>
              </c:pt>
              <c:pt idx="2">
                <c:v>3845.826296568</c:v>
              </c:pt>
              <c:pt idx="3">
                <c:v>4832.024798961</c:v>
              </c:pt>
              <c:pt idx="4">
                <c:v>5956.025297015</c:v>
              </c:pt>
            </c:numLit>
          </c:val>
        </c:ser>
        <c:ser>
          <c:idx val="1"/>
          <c:order val="1"/>
          <c:tx>
            <c:v>Core PBT</c:v>
          </c:tx>
          <c:spPr>
            <a:solidFill xmlns:a="http://schemas.openxmlformats.org/drawingml/2006/main">
              <a:srgbClr val="D6A84B"/>
            </a:solidFill>
          </c:spPr>
          <c:cat>
            <c:strLit>
              <c:ptCount val="5"/>
              <c:pt idx="0">
                <c:v>2021A</c:v>
              </c:pt>
              <c:pt idx="1">
                <c:v>2022A</c:v>
              </c:pt>
              <c:pt idx="2">
                <c:v>2023A</c:v>
              </c:pt>
              <c:pt idx="3">
                <c:v>2024A</c:v>
              </c:pt>
              <c:pt idx="4">
                <c:v>2025A</c:v>
              </c:pt>
            </c:strLit>
          </c:cat>
          <c:val>
            <c:numLit>
              <c:formatCode>#,##0</c:formatCode>
              <c:ptCount val="5"/>
              <c:pt idx="0">
                <c:v>806.212</c:v>
              </c:pt>
              <c:pt idx="1">
                <c:v>1308.478</c:v>
              </c:pt>
              <c:pt idx="2">
                <c:v>1307</c:v>
              </c:pt>
              <c:pt idx="3">
                <c:v>1781</c:v>
              </c:pt>
              <c:pt idx="4">
                <c:v>2520.827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75569"/>
                    </a:solidFill>
                  </a:rPr>
                  <a:t>VND bn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75569"/>
                  </a:solidFill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1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</c:v>
          </c:tx>
          <c:spPr>
            <a:ln xmlns:a="http://schemas.openxmlformats.org/drawingml/2006/main" w="38100">
              <a:solidFill>
                <a:srgbClr val="1F4E7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2025A</c:v>
              </c:pt>
              <c:pt idx="1">
                <c:v>2026E</c:v>
              </c:pt>
              <c:pt idx="2">
                <c:v>2027E</c:v>
              </c:pt>
              <c:pt idx="3">
                <c:v>2028E</c:v>
              </c:pt>
              <c:pt idx="4">
                <c:v>2029E</c:v>
              </c:pt>
              <c:pt idx="5">
                <c:v>2030E</c:v>
              </c:pt>
            </c:strLit>
          </c:cat>
          <c:val>
            <c:numLit>
              <c:formatCode>#,##0</c:formatCode>
              <c:ptCount val="6"/>
              <c:pt idx="0">
                <c:v>5956.025297015</c:v>
              </c:pt>
              <c:pt idx="1">
                <c:v>6757.498469512975</c:v>
              </c:pt>
              <c:pt idx="2">
                <c:v>7603.459943653505</c:v>
              </c:pt>
              <c:pt idx="3">
                <c:v>8736.01097698022</c:v>
              </c:pt>
              <c:pt idx="4">
                <c:v>9925.844654586946</c:v>
              </c:pt>
              <c:pt idx="5">
                <c:v>11100.373535548777</c:v>
              </c:pt>
            </c:numLit>
          </c:val>
        </c:ser>
        <c:ser>
          <c:idx val="1"/>
          <c:order val="1"/>
          <c:tx>
            <c:v>Parent PAT</c:v>
          </c:tx>
          <c:spPr>
            <a:ln xmlns:a="http://schemas.openxmlformats.org/drawingml/2006/main" w="38100">
              <a:solidFill>
                <a:srgbClr val="D6A84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2025A</c:v>
              </c:pt>
              <c:pt idx="1">
                <c:v>2026E</c:v>
              </c:pt>
              <c:pt idx="2">
                <c:v>2027E</c:v>
              </c:pt>
              <c:pt idx="3">
                <c:v>2028E</c:v>
              </c:pt>
              <c:pt idx="4">
                <c:v>2029E</c:v>
              </c:pt>
              <c:pt idx="5">
                <c:v>2030E</c:v>
              </c:pt>
            </c:strLit>
          </c:cat>
          <c:val>
            <c:numLit>
              <c:formatCode>#,##0</c:formatCode>
              <c:ptCount val="6"/>
              <c:pt idx="0">
                <c:v>1755.629825296</c:v>
              </c:pt>
              <c:pt idx="1">
                <c:v>2124.3038388766777</c:v>
              </c:pt>
              <c:pt idx="2">
                <c:v>2391.999423569727</c:v>
              </c:pt>
              <c:pt idx="3">
                <c:v>2818.6100153044968</c:v>
              </c:pt>
              <c:pt idx="4">
                <c:v>3261.872718281634</c:v>
              </c:pt>
              <c:pt idx="5">
                <c:v>3677.8156533843276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75569"/>
                    </a:solidFill>
                  </a:rPr>
                  <a:t>VND bn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75569"/>
                  </a:solidFill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2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VND/share</c:v>
          </c:tx>
          <c:spPr>
            <a:solidFill xmlns:a="http://schemas.openxmlformats.org/drawingml/2006/main">
              <a:srgbClr val="1F4E7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3B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E7D3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9BD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cat>
            <c:strLit>
              <c:ptCount val="4"/>
              <c:pt idx="0">
                <c:v>Current</c:v>
              </c:pt>
              <c:pt idx="1">
                <c:v>Base</c:v>
              </c:pt>
              <c:pt idx="2">
                <c:v>Bull</c:v>
              </c:pt>
              <c:pt idx="3">
                <c:v>Bear</c:v>
              </c:pt>
            </c:strLit>
          </c:cat>
          <c:val>
            <c:numLit>
              <c:formatCode>#,##0</c:formatCode>
              <c:ptCount val="4"/>
              <c:pt idx="0">
                <c:v>73200</c:v>
              </c:pt>
              <c:pt idx="1">
                <c:v>84500</c:v>
              </c:pt>
              <c:pt idx="2">
                <c:v>115500</c:v>
              </c:pt>
              <c:pt idx="3">
                <c:v>51000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75569"/>
                    </a:solidFill>
                  </a:rPr>
                  <a:t>VND/share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75569"/>
                  </a:solidFill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2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EABE8-C0EE-4129-95F3-30881C92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4E50A-DCEA-48DC-8FDE-633BA625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4E7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4E78"/>
                </a:solidFill>
                <a:latin typeface="Aptos"/>
                <a:ea typeface="Aptos"/>
                <a:cs typeface="Aptos"/>
              </a:rPr>
              <a:t>INDEPENDENT EQUITY RESEARCH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54202-EF09-4C35-A5E1-43FE6C1D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46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GMD: export recovery meets scarce port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AEB11-722F-4489-91B3-3BE2285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top-down initiation from Vietnam trade and FDI to container throughput, attributable earnings and 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C0D4B-F8EE-4E91-99D8-1C5DB4B3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2E7D32"/>
                </a:solidFill>
                <a:latin typeface="Aptos"/>
                <a:ea typeface="Aptos"/>
                <a:cs typeface="Aptos"/>
              </a:rPr>
              <a:t>BUY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358AD-3FFA-4464-AB2E-0AF6C7BE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435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Target VND 84,500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8211C-D9B0-4052-895C-9E11E40A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435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15.4% upside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DF240-069A-4302-B3AD-0E19ED75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C00000"/>
                </a:solidFill>
                <a:latin typeface="Aptos"/>
                <a:ea typeface="Aptos"/>
                <a:cs typeface="Aptos"/>
              </a:rPr>
              <a:t>The Base case only narrowly clears the BUY hurdle; execution risk is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9929E-3F11-48F0-9062-D7055FE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cut-off: 25 Jul 2026</a:t>
            </a:r>
          </a:p>
        </p:txBody>
      </p:sp>
    </p:spTree>
    <p:extLst>
      <p:ext uri="{BB962C8B-B14F-4D97-AF65-F5344CB8AC3E}">
        <p14:creationId xmlns:p14="http://schemas.microsoft.com/office/powerpoint/2010/main" val="1248349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3694E-D6EB-4D7F-A2A1-124013BB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9BFF471-191F-4F07-B678-1F67F6F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Trade is accelerating, but TEU conversion is the investable 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7BE6C-A8CE-4946-A0F2-451EA110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GMD | 25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452B2-EFAD-4F8B-9851-1E9EF43C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E8288-BE2A-4442-B02F-92DABA5C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Vietnam's merchandise trade reached USD 930bn in 2025; 1H2026 growth strengthened further. The model therefore forecasts physical container growth below headline trade-value growth.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657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2677385264495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8D3B6-F8D9-4D2D-ACDA-277DF55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49C7A-933B-466B-9EA2-55200265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F4E78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F4E78"/>
                </a:solidFill>
                <a:latin typeface="Aptos"/>
                <a:ea typeface="Aptos"/>
                <a:cs typeface="Aptos"/>
              </a:rPr>
              <a:t>+27.1%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7EE81-BDC7-458B-9BBE-C678D8AB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1H2026 total trade YoY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231F8-B628-4D19-B375-47EE59A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DF67D-68D7-4D32-879A-6260450F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2E7D32"/>
                </a:solidFill>
                <a:latin typeface="Aptos"/>
                <a:ea typeface="Aptos"/>
                <a:cs typeface="Aptos"/>
              </a:rPr>
              <a:t>+11.2%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2E94B-DE25-400A-9470-CDCCFC43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1H2026 disbursed FDI YoY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923C4-778B-404C-8E1E-B6C3F16D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F2C69-E13B-403B-BBAD-01DCB14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48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6A84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D6A84B"/>
                </a:solidFill>
                <a:latin typeface="Aptos"/>
                <a:ea typeface="Aptos"/>
                <a:cs typeface="Aptos"/>
              </a:rPr>
              <a:t>34m TEU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AE881-A5BF-4E7D-998E-7753A09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2025 national container anchor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90639-F8AA-4CC7-9597-5D6CBC63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C00000"/>
                </a:solidFill>
                <a:latin typeface="Aptos"/>
                <a:ea typeface="Aptos"/>
                <a:cs typeface="Aptos"/>
              </a:rPr>
              <a:t>Model discipline: trade value supports the backdrop; national TEU is forecast separately.</a:t>
            </a:r>
          </a:p>
        </p:txBody>
      </p:sp>
    </p:spTree>
    <p:extLst>
      <p:ext uri="{BB962C8B-B14F-4D97-AF65-F5344CB8AC3E}">
        <p14:creationId xmlns:p14="http://schemas.microsoft.com/office/powerpoint/2010/main" val="2123977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CD813-D6F9-4EA1-BD9F-D6686E3B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AF8BF60-2729-40AC-86FD-78F3ACF6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GMD earns the modeling focus on assets, runway and disclosure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3A1F1-587F-4A08-9F0D-5F11BAA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GMD | 25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41597-FCB7-42B9-A9A5-5DCF2ACA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83878-9496-4679-8C34-E36949C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weighted operating screen ranks business quality before valuation. GMD leads, while PHP remains the strategic asset benchmark and VSC the primary competitive comparator.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5619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0072c8699940b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2C54F-DA9E-4160-B461-7597D9AB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E7D32"/>
                </a:solidFill>
                <a:latin typeface="Aptos"/>
                <a:ea typeface="Aptos"/>
                <a:cs typeface="Aptos"/>
              </a:rPr>
              <a:t>Why GMD leads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47A56-E02E-4B73-B937-833D7363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07FB2-872B-4AB4-A5D2-36E4C1D0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Nationwide network with Gemalink deep-sea exposure and completed Nam Dinh Vu Phase 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08480-5EEF-462F-875D-301EC231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2E95E-9245-4391-A117-3870988D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2025 system throughput reached 5.079m TEU, up 15% with about 15% national share.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2121C-9CE2-4654-9628-0963282A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A7009-37C0-4837-BB29-C289C7C8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operating disclosure in the peer set supports a driver-based, auditable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1BC3C-D61B-4A63-9C96-53826F9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C00000"/>
                </a:solidFill>
                <a:latin typeface="Aptos"/>
                <a:ea typeface="Aptos"/>
                <a:cs typeface="Aptos"/>
              </a:rPr>
              <a:t>Selection is operational, not automatic valuation superiority.</a:t>
            </a:r>
          </a:p>
        </p:txBody>
      </p:sp>
    </p:spTree>
    <p:extLst>
      <p:ext uri="{BB962C8B-B14F-4D97-AF65-F5344CB8AC3E}">
        <p14:creationId xmlns:p14="http://schemas.microsoft.com/office/powerpoint/2010/main" val="98391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CFDCF-1EC8-4DB5-B106-E9454B81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779AE36-B9EB-46C6-BF21-00C759A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2021-2025: throughput doubled as associates scaled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1B1E0-E887-4128-969C-4F5C8E78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GMD | 25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DE53B-175F-4CD2-BC5D-5FCDF869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9F7F7-89FA-48CC-80AC-E2E94DE9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Historical earnings support the operating thesis, but consolidated revenue alone understates Gemalink because it is equity-accounted.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6858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e2a987c09c4e1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484E5-1B47-4D02-9CE2-BB1A505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55555-AEC7-4830-8779-C41B19FD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F4E78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F4E78"/>
                </a:solidFill>
                <a:latin typeface="Aptos"/>
                <a:ea typeface="Aptos"/>
                <a:cs typeface="Aptos"/>
              </a:rPr>
              <a:t>16.7%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1CEDF-1EB8-4E86-A469-65F227C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Revenue CAGR, 2021-2025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07512-D924-4CE8-8DCF-3F5066EB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EA2A4-BD76-4ED5-93EA-B636F3E6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6A84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D6A84B"/>
                </a:solidFill>
                <a:latin typeface="Aptos"/>
                <a:ea typeface="Aptos"/>
                <a:cs typeface="Aptos"/>
              </a:rPr>
              <a:t>33.0%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B1FD9-8003-488A-A986-4D8B854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Core PBT CAGR, 2021-2025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46473-69AE-4B59-8C61-2F3BCC5C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766DE-A07D-48F0-80E0-5F0F8FD9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2E7D32"/>
                </a:solidFill>
                <a:latin typeface="Aptos"/>
                <a:ea typeface="Aptos"/>
                <a:cs typeface="Aptos"/>
              </a:rPr>
              <a:t>5.1m TEU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ADA62-9D2C-48A7-BCBA-5A92FDCF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2025 throughput; 17.9% CAGR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EAB86-9D30-4ADD-8A68-D3A211E3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C00000"/>
                </a:solidFill>
                <a:latin typeface="Aptos"/>
                <a:ea typeface="Aptos"/>
                <a:cs typeface="Aptos"/>
              </a:rPr>
              <a:t>45.9% of 2025 core PBT came from associates/JVs.</a:t>
            </a:r>
          </a:p>
        </p:txBody>
      </p:sp>
    </p:spTree>
    <p:extLst>
      <p:ext uri="{BB962C8B-B14F-4D97-AF65-F5344CB8AC3E}">
        <p14:creationId xmlns:p14="http://schemas.microsoft.com/office/powerpoint/2010/main" val="401844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21DBE-1AA8-4D2C-B834-7929C25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32491C8-59C6-462D-82A2-F1307350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case: share gains and lower capex lift cash conversion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AE995-5D78-4DC3-8A2F-6BE94AF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GMD | 25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7AFAB-9E64-4104-A273-2183FF73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05A2A-FDDB-4394-98E0-6F78578C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forecast is built from national TEU growth, GMD share and unit/mix assumptions before flowing into revenue, earnings and FCFF.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6858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2d6f09b21941e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C12F5-0131-4809-B408-038B7B0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81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F5D7-9220-45F9-9534-798805B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2E7D32"/>
                </a:solidFill>
                <a:latin typeface="Aptos"/>
                <a:ea typeface="Aptos"/>
                <a:cs typeface="Aptos"/>
              </a:rPr>
              <a:t>5.7m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41709-C8B0-4506-B006-61BE0A83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2026E GMD throughput (+11.9%)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6610A-E4C7-426C-A00C-0748E4C9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solidFill>
              <a:srgbClr val="1F4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2A7F3-DC87-4CD2-9E05-336BC13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F4E78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F4E78"/>
                </a:solidFill>
                <a:latin typeface="Aptos"/>
                <a:ea typeface="Aptos"/>
                <a:cs typeface="Aptos"/>
              </a:rPr>
              <a:t>8.5m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4DF26-8193-440A-B511-77467CD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2030E GMD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98217-AADE-4C1D-879C-523F468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0A8A6-006B-4129-8D37-D5738EE5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6A84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D6A84B"/>
                </a:solidFill>
                <a:latin typeface="Aptos"/>
                <a:ea typeface="Aptos"/>
                <a:cs typeface="Aptos"/>
              </a:rPr>
              <a:t>2,661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C3720-411F-4B37-B23F-3D2EF919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006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2030E FCFF, VND bn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9BCE3-04E7-48DF-BC24-61183E0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435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475569"/>
                </a:solidFill>
                <a:latin typeface="Aptos"/>
                <a:ea typeface="Aptos"/>
                <a:cs typeface="Aptos"/>
              </a:rPr>
              <a:t>Key assumptions: 10% national TEU growth and 15.2% share in 2026; Gemalink profit steps up from 2028.</a:t>
            </a:r>
          </a:p>
        </p:txBody>
      </p:sp>
    </p:spTree>
    <p:extLst>
      <p:ext uri="{BB962C8B-B14F-4D97-AF65-F5344CB8AC3E}">
        <p14:creationId xmlns:p14="http://schemas.microsoft.com/office/powerpoint/2010/main" val="274770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1E24D-FCD9-494D-8BAE-DC9DEE62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943F5DC-5728-4F62-873F-67464616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VND 84,500 target gives 15.4% upside - just above the BUY hurdle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51494-C7A6-4AC1-9B27-391600DC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GMD | 25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9AE06-4B6D-44EB-9C82-A47011B1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29FEE-7ECD-4E35-BFE3-5E1428DE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primary call blends a 2026E P/E valuation with a DCF/SOTP cross-check. Scenario dispersion is wide because terminal assumptions and execution both matter.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5429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8f591ee98043a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ED6D4-24CB-4EEF-8796-899CCC6D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4E7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F4E78"/>
                </a:solidFill>
                <a:latin typeface="Aptos"/>
                <a:ea typeface="Aptos"/>
                <a:cs typeface="Aptos"/>
              </a:rPr>
              <a:t>Valuation bridge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286500" y="2047875"/>
          <a:ext xmlns:a="http://schemas.openxmlformats.org/drawingml/2006/main" cx="51435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</a:tblGrid>
              <a:tr h="3581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Method / output</a:t>
                      </a:r>
                    </a:p>
                  </a:txBody>
                  <a:tcPr marL="57150" marR="57150" marT="38100" marB="381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VND/share</a:t>
                      </a:r>
                    </a:p>
                  </a:txBody>
                  <a:tcPr marL="57150" marR="57150" marT="38100" marB="38100" anchor="ctr">
                    <a:solidFill>
                      <a:srgbClr val="1F4E7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2026E P/E implied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79,693</a:t>
                      </a:r>
                    </a:p>
                  </a:txBody>
                  <a:tcPr marL="57150" marR="57150" marT="38100" marB="38100" anchor="ctr"/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DCF/SOTP implied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88,988</a:t>
                      </a:r>
                    </a:p>
                  </a:txBody>
                  <a:tcPr marL="57150" marR="57150" marT="38100" marB="38100" anchor="ctr"/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Blended value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84,341</a:t>
                      </a:r>
                    </a:p>
                  </a:txBody>
                  <a:tcPr marL="57150" marR="57150" marT="38100" marB="38100" anchor="ctr"/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E7D32"/>
                          </a:solidFill>
                        </a:rPr>
                        <a:t>Rounded target</a:t>
                      </a:r>
                    </a:p>
                  </a:txBody>
                  <a:tcPr marL="57150" marR="57150" marT="38100" marB="3810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E7D32"/>
                          </a:solidFill>
                        </a:rPr>
                        <a:t>84,500</a:t>
                      </a:r>
                    </a:p>
                  </a:txBody>
                  <a:tcPr marL="57150" marR="57150" marT="38100" marB="38100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5DD97-67A8-45F4-BB86-D037A3E8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DCF sensitivity (VND/share)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286500" y="4457700"/>
          <a:ext xmlns:a="http://schemas.openxmlformats.org/drawingml/2006/main" cx="514350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285875"/>
                <a:gridCol w="1285875"/>
                <a:gridCol w="1285875"/>
              </a:tblGrid>
              <a:tr h="3214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WACC / TGR</a:t>
                      </a:r>
                    </a:p>
                  </a:txBody>
                  <a:tcPr marL="57150" marR="57150" marT="38100" marB="3810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 marL="57150" marR="57150" marT="38100" marB="3810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 marL="57150" marR="57150" marT="38100" marB="3810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 marL="57150" marR="57150" marT="38100" marB="38100" anchor="ctr">
                    <a:solidFill>
                      <a:srgbClr val="17365D"/>
                    </a:solidFill>
                  </a:tcPr>
                </a:tc>
              </a:tr>
              <a:tr h="3214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11.0%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90,844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94,758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99,274</a:t>
                      </a:r>
                    </a:p>
                  </a:txBody>
                  <a:tcPr marL="57150" marR="57150" marT="38100" marB="38100" anchor="ctr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11.5%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86,381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32"/>
                          </a:solidFill>
                        </a:rPr>
                        <a:t>89,744</a:t>
                      </a:r>
                    </a:p>
                  </a:txBody>
                  <a:tcPr marL="57150" marR="57150" marT="38100" marB="3810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93,588</a:t>
                      </a:r>
                    </a:p>
                  </a:txBody>
                  <a:tcPr marL="57150" marR="57150" marT="38100" marB="38100" anchor="ctr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12.0%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82,449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85,364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</a:rPr>
                        <a:t>88,668</a:t>
                      </a:r>
                    </a:p>
                  </a:txBody>
                  <a:tcPr marL="57150" marR="57150" marT="38100" marB="38100" anchor="ctr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1E0AB-BBE5-444C-8C18-487B556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578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C00000"/>
                </a:solidFill>
                <a:latin typeface="Aptos"/>
                <a:ea typeface="Aptos"/>
                <a:cs typeface="Aptos"/>
              </a:rPr>
              <a:t>Probability-weighted target: VND 84,000 (14.8% upside).</a:t>
            </a:r>
          </a:p>
        </p:txBody>
      </p:sp>
    </p:spTree>
    <p:extLst>
      <p:ext uri="{BB962C8B-B14F-4D97-AF65-F5344CB8AC3E}">
        <p14:creationId xmlns:p14="http://schemas.microsoft.com/office/powerpoint/2010/main" val="1784133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05A78-8153-4CBD-93C8-6790B49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D26EE49-84E8-458A-81C0-548A547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BUY works only if new capacity converts into share and cash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75DE2-DF05-44C3-828C-6A98AA4C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GMD | 25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39E14-B513-4035-97C9-65B62119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14D18-25D7-4203-A3E0-F5A0CE20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thesis is testable. Each catalyst has a leading indicator, and each downside has an explicit model stress.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BFFE5-9ECC-48CA-8A27-45A7B10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E7D32"/>
                </a:solidFill>
                <a:latin typeface="Aptos"/>
                <a:ea typeface="Aptos"/>
                <a:cs typeface="Aptos"/>
              </a:rPr>
              <a:t>Catalysts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79B84-8388-441B-B5B8-7A96F200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58B47-FD35-42A1-BE77-D85FCF53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2026 trade and FDI backdrop supports national container demand.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323F5-CD40-48A5-B87F-B465C8A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3F7FF-98E4-4EB1-87AF-5B8E7B3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Nam Dinh Vu Phase 3 contributes for a full year and lifts Northern route flexibility.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9B865-E5D2-40E9-BF3F-3108AECC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2D0C3-A9AD-4FC7-9435-267CD9BE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Gemalink Phase 2 commissioning from Q4 2027 raises equity-accounted earnings from 2028.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FB5F0-A4B5-49D0-83C1-60B0EDE2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59840-2995-4ECE-8CC1-C0E8F0F7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Service and cargo mix lift implied revenue per system TEU by 2.5%-3.0% annually.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CC80A-E201-4E1C-83D0-E9B0505C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0000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00000"/>
                </a:solidFill>
                <a:latin typeface="Aptos"/>
                <a:ea typeface="Aptos"/>
                <a:cs typeface="Aptos"/>
              </a:rPr>
              <a:t>Falsifiers and downside triggers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D1581-9B7E-45E1-9B94-CD78BD4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F8513-9586-4F2B-8C2C-8DB0600C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6217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National TEU growth falls below 5% despite stronger trade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173D2-ACCA-4680-A8A6-D19385CD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C0895-F84C-460D-A57A-D9D90403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6702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GMD share drops below 14.8% as competing capacity absorbs sector growth.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E3324-2B34-4D1E-86C0-52391C51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13F1F-3068-49F5-8002-299ECDF6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7187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Gemalink Phase 2 slips beyond Q4 2027 or ramps below plan.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61F6D-7BB6-4932-8A0F-CDB77609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6490A-68D6-46B0-AB62-AF7C308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76725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Capex stays above VND 1.5tn and NCI leakage prevents parent cash conversion.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E36F8-CF3A-4AEB-9F5B-848CA570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01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38F56-71ED-44C2-AC27-73B6AEA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16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Conclusion: BUY, target VND 84,500, 15.4% upside - but with limited margin of safety and a Bear value of VND 51,000.</a:t>
            </a:r>
          </a:p>
        </p:txBody>
      </p:sp>
    </p:spTree>
    <p:extLst>
      <p:ext uri="{BB962C8B-B14F-4D97-AF65-F5344CB8AC3E}">
        <p14:creationId xmlns:p14="http://schemas.microsoft.com/office/powerpoint/2010/main" val="1763330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2026-07-25T16:42:58.5130000Z</dcterms:created>
  <dcterms:modified xsi:type="dcterms:W3CDTF">2026-07-25T16:42:58.5130000Z</dcterms:modified>
</coreProperties>
</file>